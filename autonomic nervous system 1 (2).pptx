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2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3" r:id="rId18"/>
    <p:sldId id="282" r:id="rId19"/>
    <p:sldId id="274" r:id="rId20"/>
    <p:sldId id="275" r:id="rId21"/>
    <p:sldId id="279" r:id="rId22"/>
    <p:sldId id="280" r:id="rId23"/>
    <p:sldId id="281" r:id="rId24"/>
    <p:sldId id="258" r:id="rId25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A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55"/>
    <p:restoredTop sz="94637"/>
  </p:normalViewPr>
  <p:slideViewPr>
    <p:cSldViewPr snapToGrid="0" snapToObjects="1">
      <p:cViewPr varScale="1">
        <p:scale>
          <a:sx n="81" d="100"/>
          <a:sy n="81" d="100"/>
        </p:scale>
        <p:origin x="55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2291F-1FEC-2A46-9701-5F116D88D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30DB2-7D38-574D-B87F-4E68872CB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55872-70D9-AC47-84E0-9A619E5F8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09/22/2026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16339-E544-1A4E-A84B-944369114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8DCCF-B245-2444-AB4A-7B9BDAF0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297442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293E-3E2F-6149-8BA2-52A5648D1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0098D-E88B-5441-AA65-8891F0662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F45B1-AD4C-DA4E-9559-5DFA14EA4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09/22/2026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F14AC-CD29-0348-BF98-38A4D7C35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3DAC0-D9F7-014F-B3AB-D0043AAD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12579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0A38-0CB2-D04D-8C90-7167A3C5A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7C20D-54CC-D341-88CD-3549522EC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4C208-EA1C-FF43-B45A-83DEC866F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09/22/2026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70DB4-0E0D-6345-90DB-DAF862FE4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9AD06-34A3-CE4F-A4DA-4D5528E3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82673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3D39-046B-914E-88A0-6552EC474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C26CC-791D-F343-93E9-21E8F743E7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88BCF-FDA7-444D-8C1A-94409EFE8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551B1-EE8B-764F-A8A8-1D82F7FF2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09/22/2026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77BB5-08FA-5F43-813C-9D048047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7AE57-6F47-2449-B1E0-5A7212DA7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908970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849F6-483E-B948-8889-64B3C553F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3C833-D168-B147-9539-ABAE1C982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77F9A-0321-0140-91C9-900280D39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25A0E7-21F1-E84C-BA62-BA581B58A0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1A8F9-B595-E843-AE27-8FEECE89F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32D910-A383-F64B-84EB-2A5B3F205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09/22/2026</a:t>
            </a:fld>
            <a:endParaRPr lang="en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FB07CF-8BC8-6047-9A61-71BA4B2F5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6EF9DF-5B81-BE49-9306-67C42D2C5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994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A8BF-A10C-FD44-B992-61A8720D0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61D50-4DA8-3047-85FF-8EF5FB208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09/22/2026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CDF751-A9A4-3448-8EA5-724643913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0FEBA-592B-5F4F-BA30-ADC9A3816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967580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A02A46-3F29-A440-A843-C77B7C12F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09/22/2026</a:t>
            </a:fld>
            <a:endParaRPr lang="en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76E57-C6E4-1942-A970-27118AB9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D18A4-C2F3-CF44-814D-E5B3A2C2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3403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228F9-AF96-9C4D-83FE-A9756AD7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12BBA-F896-5C4D-AD31-148271805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1BC09-BDA5-0E43-8050-1196BE615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9F12B-E81C-BF49-9989-85DC92FBE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09/22/2026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503FE-29EC-9D4A-A977-9AE8C583E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652A6-56B9-8048-9738-0C9772EC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477222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2683-F2E2-3F47-96EF-86037A416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F8FE2F-BC00-6D4C-8DF4-4A2CE34301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A0730-ED86-294B-B52D-576DB0327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423F6-CDB1-0E4D-9D0A-F09BA8637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09/22/2026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085A9-5B2C-E248-8597-1410DC222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73CF4-55C9-AD4A-ADD2-E90F9B61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58539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2CE45-2BB9-8443-8E38-BE0847E07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FEEA0-E059-CC48-826B-B4D2C286A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8BEBC-1051-2143-B581-5EF4F8C41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09/22/2026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43065-1F63-FD4C-84F8-619F2C333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1524D-66D9-B340-AE0F-CB8152DE8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11550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295558-D2B1-A645-B7BD-33E796834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C0D934-634B-864B-BC1B-9A7738120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DCA47-7183-3640-B709-8681C3016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1ABE-0409-F743-A828-0C8C93FFAE2C}" type="datetimeFigureOut">
              <a:rPr lang="en-EG" smtClean="0"/>
              <a:t>09/22/2026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50F76-00B3-3D44-8998-3927A917E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1E62F-B2B9-9C42-92BB-3678F084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71867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5B51F1-D73E-444C-88AE-D823473C5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B86CA-2AFF-1E41-85C9-DF4BD3529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810F1-8D36-B249-BEEF-04CF01556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B1ABE-0409-F743-A828-0C8C93FFAE2C}" type="datetimeFigureOut">
              <a:rPr lang="en-EG" smtClean="0"/>
              <a:t>09/22/2026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F75FC-03DA-CC4C-8EFA-9DCF9DB9D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329C3-49AB-B84B-9633-0C7438084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7DCEF-730D-FE45-96E6-F1E8F1277664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34074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851513" y="1905304"/>
            <a:ext cx="42915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Field of Dentistry  </a:t>
            </a:r>
            <a:endParaRPr lang="en-EG" sz="4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B205BF-B7E8-8442-8978-77BF24E0C175}"/>
              </a:ext>
            </a:extLst>
          </p:cNvPr>
          <p:cNvSpPr txBox="1"/>
          <p:nvPr/>
        </p:nvSpPr>
        <p:spPr>
          <a:xfrm>
            <a:off x="851513" y="3136142"/>
            <a:ext cx="45079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D5A8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Lecture : (Autonomic Nervous System 1 )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C9BF02-2656-D049-8520-4F18B0529DEF}"/>
              </a:ext>
            </a:extLst>
          </p:cNvPr>
          <p:cNvSpPr txBox="1"/>
          <p:nvPr/>
        </p:nvSpPr>
        <p:spPr>
          <a:xfrm>
            <a:off x="4714596" y="4913572"/>
            <a:ext cx="187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D5A8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Date :   /9  /2026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601A4A-8EB2-5B41-AA2F-8AA385D963EC}"/>
              </a:ext>
            </a:extLst>
          </p:cNvPr>
          <p:cNvSpPr txBox="1"/>
          <p:nvPr/>
        </p:nvSpPr>
        <p:spPr>
          <a:xfrm>
            <a:off x="854137" y="4913572"/>
            <a:ext cx="2409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D5A8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Dr : (Mohamed Talal)</a:t>
            </a:r>
          </a:p>
        </p:txBody>
      </p:sp>
    </p:spTree>
    <p:extLst>
      <p:ext uri="{BB962C8B-B14F-4D97-AF65-F5344CB8AC3E}">
        <p14:creationId xmlns:p14="http://schemas.microsoft.com/office/powerpoint/2010/main" val="1689048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221823" y="8975"/>
            <a:ext cx="64187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D5A8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Autonomic nervous system </a:t>
            </a:r>
            <a:endParaRPr lang="en-EG" sz="4000" dirty="0">
              <a:solidFill>
                <a:srgbClr val="D5A84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B86D5-5070-314B-8FF3-AD3C464A7684}"/>
              </a:ext>
            </a:extLst>
          </p:cNvPr>
          <p:cNvSpPr txBox="1"/>
          <p:nvPr/>
        </p:nvSpPr>
        <p:spPr>
          <a:xfrm>
            <a:off x="221823" y="716861"/>
            <a:ext cx="3145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Structure and origin 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9E2815-AA3A-4205-BC9E-B166544F4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243" y="716861"/>
            <a:ext cx="7457255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23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221823" y="8975"/>
            <a:ext cx="64187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D5A8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Autonomic nervous system </a:t>
            </a:r>
            <a:endParaRPr lang="en-EG" sz="4000" dirty="0">
              <a:solidFill>
                <a:srgbClr val="D5A84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B86D5-5070-314B-8FF3-AD3C464A7684}"/>
              </a:ext>
            </a:extLst>
          </p:cNvPr>
          <p:cNvSpPr txBox="1"/>
          <p:nvPr/>
        </p:nvSpPr>
        <p:spPr>
          <a:xfrm>
            <a:off x="221823" y="716861"/>
            <a:ext cx="5981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Functional division of the nervous system: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0C2265-F6FA-4FA3-B689-5021962BB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995694"/>
              </p:ext>
            </p:extLst>
          </p:nvPr>
        </p:nvGraphicFramePr>
        <p:xfrm>
          <a:off x="904973" y="1734786"/>
          <a:ext cx="9483365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4583">
                  <a:extLst>
                    <a:ext uri="{9D8B030D-6E8A-4147-A177-3AD203B41FA5}">
                      <a16:colId xmlns:a16="http://schemas.microsoft.com/office/drawing/2014/main" val="1295689794"/>
                    </a:ext>
                  </a:extLst>
                </a:gridCol>
                <a:gridCol w="2687416">
                  <a:extLst>
                    <a:ext uri="{9D8B030D-6E8A-4147-A177-3AD203B41FA5}">
                      <a16:colId xmlns:a16="http://schemas.microsoft.com/office/drawing/2014/main" val="4250376590"/>
                    </a:ext>
                  </a:extLst>
                </a:gridCol>
                <a:gridCol w="2479251">
                  <a:extLst>
                    <a:ext uri="{9D8B030D-6E8A-4147-A177-3AD203B41FA5}">
                      <a16:colId xmlns:a16="http://schemas.microsoft.com/office/drawing/2014/main" val="778659302"/>
                    </a:ext>
                  </a:extLst>
                </a:gridCol>
                <a:gridCol w="2432115">
                  <a:extLst>
                    <a:ext uri="{9D8B030D-6E8A-4147-A177-3AD203B41FA5}">
                      <a16:colId xmlns:a16="http://schemas.microsoft.com/office/drawing/2014/main" val="3535924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Sensory nervous system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Motor nervous system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Autonomic nervous system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718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Carry neural impulses from skin to CNS.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Carry neural impulses from the CNS to the skeletal muscles.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Carry neural impulses from CNS to smooth and cardiac muscles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40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Location of cell body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Outside the spinal cord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Inside the spinal cord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Inside the spinal cord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412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Site in grey matter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Dorsal horn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Ventral horn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Lateral horn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169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5770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221823" y="8975"/>
            <a:ext cx="64187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Autonomic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CAB7B6F5-A395-42B7-B6DF-2753AA3CB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1262063"/>
            <a:ext cx="619125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0492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221823" y="8975"/>
            <a:ext cx="64187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Autonomic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F9A43E6-734B-42E1-9CE2-24FB83353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526590"/>
              </p:ext>
            </p:extLst>
          </p:nvPr>
        </p:nvGraphicFramePr>
        <p:xfrm>
          <a:off x="1791478" y="1292169"/>
          <a:ext cx="7987002" cy="4330192"/>
        </p:xfrm>
        <a:graphic>
          <a:graphicData uri="http://schemas.openxmlformats.org/drawingml/2006/table">
            <a:tbl>
              <a:tblPr firstRow="1" firstCol="1" bandRow="1"/>
              <a:tblGrid>
                <a:gridCol w="2662334">
                  <a:extLst>
                    <a:ext uri="{9D8B030D-6E8A-4147-A177-3AD203B41FA5}">
                      <a16:colId xmlns:a16="http://schemas.microsoft.com/office/drawing/2014/main" val="3017196740"/>
                    </a:ext>
                  </a:extLst>
                </a:gridCol>
                <a:gridCol w="2662334">
                  <a:extLst>
                    <a:ext uri="{9D8B030D-6E8A-4147-A177-3AD203B41FA5}">
                      <a16:colId xmlns:a16="http://schemas.microsoft.com/office/drawing/2014/main" val="871517865"/>
                    </a:ext>
                  </a:extLst>
                </a:gridCol>
                <a:gridCol w="2662334">
                  <a:extLst>
                    <a:ext uri="{9D8B030D-6E8A-4147-A177-3AD203B41FA5}">
                      <a16:colId xmlns:a16="http://schemas.microsoft.com/office/drawing/2014/main" val="33833420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Autonomic nervous system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Somatic nervous system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450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Control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Involuntary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Voluntary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993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Type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 types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One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396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Efferent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 efferent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One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71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Muscle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Smooth muscle – cardiac muscle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Skeletal muscle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777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Chemical transmitter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Acetylcholine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Norepinephrine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Acetylcholine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873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Autonomic ganglia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Present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Absent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668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Arise from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LHC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AHC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7221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130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221823" y="8975"/>
            <a:ext cx="64187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Autonomic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38175F-E56B-41A3-AE84-049B76167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440233"/>
            <a:ext cx="9753600" cy="371475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2347"/>
            <a:ext cx="10515600" cy="707886"/>
          </a:xfrm>
        </p:spPr>
        <p:txBody>
          <a:bodyPr/>
          <a:lstStyle/>
          <a:p>
            <a:r>
              <a:rPr lang="en-US" b="1" dirty="0"/>
              <a:t>Autonomic ganglia : </a:t>
            </a:r>
          </a:p>
        </p:txBody>
      </p:sp>
    </p:spTree>
    <p:extLst>
      <p:ext uri="{BB962C8B-B14F-4D97-AF65-F5344CB8AC3E}">
        <p14:creationId xmlns:p14="http://schemas.microsoft.com/office/powerpoint/2010/main" val="1391184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221823" y="8975"/>
            <a:ext cx="64187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Autonomic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2346"/>
            <a:ext cx="10515600" cy="57057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/>
              <a:t>Autonomic ganglia : </a:t>
            </a:r>
          </a:p>
          <a:p>
            <a:pPr marL="0" marR="0" inden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u="sng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Definition:</a:t>
            </a:r>
            <a:r>
              <a:rPr lang="en-US" sz="2200" u="sng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collection of neurons outside CNS 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u="sng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Function:</a:t>
            </a:r>
            <a:r>
              <a:rPr lang="en-US" sz="2200" u="sng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acts as distributing center 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u="sng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Types: </a:t>
            </a:r>
            <a:endParaRPr lang="en-US" sz="1700" u="sng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2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paravertebral ganglia  ( lateral ) 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2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collateral ganglia  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2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terminal ganglia 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116EA-3B36-44E1-9EF1-DCDEB3CE9F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109" b="39319"/>
          <a:stretch/>
        </p:blipFill>
        <p:spPr>
          <a:xfrm>
            <a:off x="7115660" y="905068"/>
            <a:ext cx="4765304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67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221823" y="8975"/>
            <a:ext cx="64187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Autonomic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2346"/>
            <a:ext cx="10515600" cy="57057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paravertebral ganglia  ( lateral )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250000"/>
              </a:lnSpc>
              <a:spcBef>
                <a:spcPts val="0"/>
              </a:spcBef>
              <a:buFont typeface="Wingdings" panose="05000000000000000000" pitchFamily="2" charset="2"/>
              <a:buChar char="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present on both sides of vertebral column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250000"/>
              </a:lnSpc>
              <a:spcBef>
                <a:spcPts val="0"/>
              </a:spcBef>
              <a:buFont typeface="Wingdings" panose="05000000000000000000" pitchFamily="2" charset="2"/>
              <a:buChar char="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relay of sympathetic nervous system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E56A85-9E49-425B-8A99-9F734E7B02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47906" b="8027"/>
          <a:stretch/>
        </p:blipFill>
        <p:spPr>
          <a:xfrm>
            <a:off x="7543681" y="275253"/>
            <a:ext cx="4334188" cy="630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84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221823" y="8975"/>
            <a:ext cx="64187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Autonomic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2346"/>
            <a:ext cx="10515600" cy="5705776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20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collateral ganglia :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present midway between spinal cord and viscera.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relay of sympathetic . </a:t>
            </a:r>
          </a:p>
          <a:p>
            <a:pPr lvl="2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relay of parasympathetic .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terminal ganglia :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present near or inside the viscous.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relay of parasympathetic.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3074" name="Picture 2" descr="See related image detail">
            <a:extLst>
              <a:ext uri="{FF2B5EF4-FFF2-40B4-BE49-F238E27FC236}">
                <a16:creationId xmlns:a16="http://schemas.microsoft.com/office/drawing/2014/main" id="{ED661E8E-04D1-46B9-BCA7-E16D95C19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801" y="677402"/>
            <a:ext cx="3610983" cy="5760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332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221823" y="8975"/>
            <a:ext cx="91342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Divisions of Autonomic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2346"/>
            <a:ext cx="4086808" cy="2943915"/>
          </a:xfrm>
        </p:spPr>
        <p:txBody>
          <a:bodyPr>
            <a:normAutofit/>
          </a:bodyPr>
          <a:lstStyle/>
          <a:p>
            <a:pPr marL="514350" indent="-514350">
              <a:lnSpc>
                <a:spcPct val="250000"/>
              </a:lnSpc>
              <a:buFont typeface="+mj-lt"/>
              <a:buAutoNum type="arabicPeriod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Sympathetic nervous system. </a:t>
            </a:r>
          </a:p>
          <a:p>
            <a:pPr marL="514350" indent="-514350">
              <a:lnSpc>
                <a:spcPct val="250000"/>
              </a:lnSpc>
              <a:buFont typeface="+mj-lt"/>
              <a:buAutoNum type="arabicPeriod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Parasympathetic nervous system.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D3AC87-4C1A-4CF0-8EA5-7301BEFE15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238"/>
          <a:stretch/>
        </p:blipFill>
        <p:spPr>
          <a:xfrm>
            <a:off x="3777244" y="822960"/>
            <a:ext cx="8342624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763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91342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Divisions of Autonomic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2" y="584613"/>
            <a:ext cx="4086808" cy="905176"/>
          </a:xfrm>
        </p:spPr>
        <p:txBody>
          <a:bodyPr>
            <a:normAutofit/>
          </a:bodyPr>
          <a:lstStyle/>
          <a:p>
            <a:pPr marL="514350" indent="-514350">
              <a:lnSpc>
                <a:spcPct val="250000"/>
              </a:lnSpc>
              <a:buFont typeface="+mj-lt"/>
              <a:buAutoNum type="arabicPeriod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Sympathetic nervous system. 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D24EF5-4135-4AC6-8260-D0672D7E3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770" y="584613"/>
            <a:ext cx="5008748" cy="28346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B214A4-7FE1-48F2-A6DC-674BAAA85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82" y="1420019"/>
            <a:ext cx="4663440" cy="31089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36600E-C718-4A4E-B6D7-E61D9972FC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171" y="3615301"/>
            <a:ext cx="4663440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22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221823" y="8975"/>
            <a:ext cx="91342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Divisions of Autonomic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2346"/>
            <a:ext cx="4086808" cy="2943915"/>
          </a:xfrm>
        </p:spPr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Parasympathetic nervous system.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FC3D17-54A9-48CE-A834-820E6BC04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292" y="1604866"/>
            <a:ext cx="5669280" cy="377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3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69910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 sympathetic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584612"/>
            <a:ext cx="6810448" cy="2093273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b="1" dirty="0"/>
              <a:t>Origin : </a:t>
            </a:r>
          </a:p>
          <a:p>
            <a:pPr marL="0" marR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thoracolumbar (LHC of all thoracic and upper 3 lumbar segments)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BC2F2B-39F3-4BFE-9D53-5BFE35AEFB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r="50000"/>
          <a:stretch/>
        </p:blipFill>
        <p:spPr>
          <a:xfrm>
            <a:off x="7437264" y="502920"/>
            <a:ext cx="4261292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16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97994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 functions of sympathetic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584611"/>
            <a:ext cx="6810448" cy="561091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b="1" u="sng" dirty="0"/>
              <a:t>On head and neck : </a:t>
            </a:r>
          </a:p>
          <a:p>
            <a:pPr marL="514350" marR="0" indent="-5143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Eye: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pupil dilatation ( mydriasis ) due to contraction of dilator pupillae muscle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elevation of upper eyelid ( widening of palpebral fissure )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decrease tear secretion of lacrimal gland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marR="0" indent="-51435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Salivary glands: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70000"/>
              </a:lnSpc>
              <a:spcBef>
                <a:spcPts val="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Decreases salivary secretions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50000"/>
              </a:lnSpc>
              <a:buNone/>
            </a:pP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701A49-FA56-43B4-9600-17F92CBD9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768" y="3205065"/>
            <a:ext cx="2305050" cy="1866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08F6C3-5C25-44BA-98BF-7FF0AF018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913" y="707886"/>
            <a:ext cx="4233905" cy="2377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9E958A-89E1-4439-8D2C-AF74463CB0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372" y="3235549"/>
            <a:ext cx="2834640" cy="349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91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97994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 functions of sympathetic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584611"/>
            <a:ext cx="6810448" cy="5610915"/>
          </a:xfrm>
        </p:spPr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b="1" u="sng" dirty="0"/>
              <a:t>On thorax : ( heart and lung )</a:t>
            </a:r>
          </a:p>
          <a:p>
            <a:pPr marL="0" marR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tabLst>
                <a:tab pos="1390650" algn="l"/>
              </a:tabLst>
            </a:pPr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Heart: 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250000"/>
              </a:lnSpc>
              <a:spcBef>
                <a:spcPts val="0"/>
              </a:spcBef>
              <a:tabLst>
                <a:tab pos="1390650" algn="l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increase excitability and rate of conduction. 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250000"/>
              </a:lnSpc>
              <a:spcBef>
                <a:spcPts val="0"/>
              </a:spcBef>
              <a:tabLst>
                <a:tab pos="1390650" algn="l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+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inotropic effect ( increase in  force of contraction ) 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250000"/>
              </a:lnSpc>
              <a:spcBef>
                <a:spcPts val="0"/>
              </a:spcBef>
              <a:tabLst>
                <a:tab pos="1390650" algn="l"/>
              </a:tabLst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+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chronotropic effect ( increase in  heart rate ) 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250000"/>
              </a:lnSpc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vasodilatation of coronary vessels. </a:t>
            </a:r>
            <a:endParaRPr lang="en-US" sz="1800" b="1" u="sng" dirty="0"/>
          </a:p>
          <a:p>
            <a:pPr marL="0" indent="0">
              <a:lnSpc>
                <a:spcPct val="250000"/>
              </a:lnSpc>
              <a:buNone/>
            </a:pP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D7AE73-9DCE-4034-B456-3C92DD6B9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356" y="717411"/>
            <a:ext cx="2990850" cy="3638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1486C-09CB-4F42-9FD7-5AB12A9EAB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158" r="6591"/>
          <a:stretch/>
        </p:blipFill>
        <p:spPr>
          <a:xfrm>
            <a:off x="9293290" y="707886"/>
            <a:ext cx="289871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93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97994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 functions of sympathetic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584611"/>
            <a:ext cx="6810448" cy="5610915"/>
          </a:xfrm>
        </p:spPr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b="1" u="sng" dirty="0"/>
              <a:t>On thorax : ( heart and lung )</a:t>
            </a:r>
          </a:p>
          <a:p>
            <a:pPr marL="0" marR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tabLst>
                <a:tab pos="1390650" algn="l"/>
              </a:tabLst>
            </a:pPr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Lung: 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250000"/>
              </a:lnSpc>
              <a:spcBef>
                <a:spcPts val="0"/>
              </a:spcBef>
              <a:tabLst>
                <a:tab pos="1390650" algn="l"/>
              </a:tabLs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bronchodilatation ( relaxation of bronchial muscles ). 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>
              <a:lnSpc>
                <a:spcPct val="250000"/>
              </a:lnSpc>
              <a:spcBef>
                <a:spcPts val="0"/>
              </a:spcBef>
              <a:tabLst>
                <a:tab pos="1390650" algn="l"/>
              </a:tabLs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vasoconstriction of pulmonary vessels.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50000"/>
              </a:lnSpc>
              <a:buNone/>
            </a:pP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88D7A5-891E-47E0-BE36-1E05ADE89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746" y="584611"/>
            <a:ext cx="3422879" cy="320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C41B67-EEA9-468C-9ADC-EC0016D6D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3475" y="3908286"/>
            <a:ext cx="404142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33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96968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</a:t>
            </a:r>
            <a:r>
              <a:rPr lang="en-US" sz="4000" b="1" dirty="0">
                <a:solidFill>
                  <a:srgbClr val="D5A8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functions of sympathetic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584612"/>
            <a:ext cx="8527280" cy="59934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on abdomen : </a:t>
            </a:r>
          </a:p>
          <a:p>
            <a:pPr marL="0" indent="0">
              <a:buNone/>
            </a:pPr>
            <a:r>
              <a:rPr lang="en-US" b="1" dirty="0"/>
              <a:t>Liver: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glycogenolysis ( hyperglycemia ).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increase metabolic rate.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increase fibrinogen synthesis ( limit bleeding ). 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4205FA-61CE-4957-B2ED-E55A588A6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491" y="905263"/>
            <a:ext cx="2636871" cy="320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F19966-145D-4381-9751-AC718DD6E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918" y="979908"/>
            <a:ext cx="2238375" cy="4095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CC9644-DB31-490F-A188-AAFCFBE64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707" y="3244438"/>
            <a:ext cx="44577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91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96968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</a:t>
            </a:r>
            <a:r>
              <a:rPr lang="en-US" sz="4000" b="1" dirty="0">
                <a:solidFill>
                  <a:srgbClr val="D5A8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functions of sympathetic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584612"/>
            <a:ext cx="4113901" cy="59934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on abdomen : </a:t>
            </a:r>
          </a:p>
          <a:p>
            <a:pPr marL="0" indent="0">
              <a:buNone/>
            </a:pPr>
            <a:r>
              <a:rPr lang="en-US" b="1" dirty="0"/>
              <a:t>Pancreas: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Stimulates glucagon secretion.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 inhibits insulin secretion. 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9EB1B0-8F16-4149-8716-AD104D8C9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04" y="905069"/>
            <a:ext cx="7431632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220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96968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functions of sympathetic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584612"/>
            <a:ext cx="8527280" cy="59934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on abdomen 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Adrenal medulla: 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secretion of 80% adrenaline – 20% noradrenaline. 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E7BC60-550E-4065-A006-F6A86EB24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7611" y="929587"/>
            <a:ext cx="4383463" cy="283464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B1A17C-AF58-4C41-BFA6-11BD070823F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3305" y="2343474"/>
          <a:ext cx="6960638" cy="1360932"/>
        </p:xfrm>
        <a:graphic>
          <a:graphicData uri="http://schemas.openxmlformats.org/drawingml/2006/table">
            <a:tbl>
              <a:tblPr firstRow="1" firstCol="1" bandRow="1"/>
              <a:tblGrid>
                <a:gridCol w="3480319">
                  <a:extLst>
                    <a:ext uri="{9D8B030D-6E8A-4147-A177-3AD203B41FA5}">
                      <a16:colId xmlns:a16="http://schemas.microsoft.com/office/drawing/2014/main" val="1816915495"/>
                    </a:ext>
                  </a:extLst>
                </a:gridCol>
                <a:gridCol w="3480319">
                  <a:extLst>
                    <a:ext uri="{9D8B030D-6E8A-4147-A177-3AD203B41FA5}">
                      <a16:colId xmlns:a16="http://schemas.microsoft.com/office/drawing/2014/main" val="3504373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Adrenaline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Noradrenaline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851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Greater effect on :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Cardiac contractility ( β</a:t>
                      </a:r>
                      <a:r>
                        <a:rPr lang="en-US" sz="2000" baseline="-25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Greater effect on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arterial blood pressure ( VC via </a:t>
                      </a:r>
                      <a:r>
                        <a:rPr lang="el-GR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α1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) 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24262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D22CBAF-DF98-4FE8-848D-7D5637CAB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33" y="3764227"/>
            <a:ext cx="2926080" cy="299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3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96968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functions of sympathetic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584612"/>
            <a:ext cx="8527280" cy="59934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on abdomen : </a:t>
            </a:r>
            <a:endParaRPr lang="en-US" sz="2000" dirty="0"/>
          </a:p>
          <a:p>
            <a:pPr marL="0" indent="0">
              <a:lnSpc>
                <a:spcPct val="250000"/>
              </a:lnSpc>
              <a:buNone/>
            </a:pPr>
            <a:r>
              <a:rPr lang="en-US" b="1" dirty="0"/>
              <a:t>Gastrointestinal tract: </a:t>
            </a:r>
          </a:p>
          <a:p>
            <a:pPr lvl="1">
              <a:lnSpc>
                <a:spcPct val="250000"/>
              </a:lnSpc>
            </a:pPr>
            <a:r>
              <a:rPr lang="en-US" sz="2000" dirty="0"/>
              <a:t>Inhibition ( relaxation ) of wall.</a:t>
            </a:r>
          </a:p>
          <a:p>
            <a:pPr lvl="1">
              <a:lnSpc>
                <a:spcPct val="250000"/>
              </a:lnSpc>
            </a:pPr>
            <a:r>
              <a:rPr lang="en-US" sz="2000" dirty="0"/>
              <a:t>contraction of sphincters. 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FD29F4-08E5-4C72-B4ED-E51509F13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624" y="937726"/>
            <a:ext cx="6234325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132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97994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 functions of sympathetic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584611"/>
            <a:ext cx="6810448" cy="5610915"/>
          </a:xfrm>
        </p:spPr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b="1" u="sng" dirty="0"/>
              <a:t>On pelvis : </a:t>
            </a:r>
          </a:p>
          <a:p>
            <a:pPr marL="0" marR="0" inden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914400" algn="l"/>
              </a:tabLs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Rectum: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(retention of feces)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200000"/>
              </a:lnSpc>
              <a:spcBef>
                <a:spcPts val="0"/>
              </a:spcBef>
              <a:tabLst>
                <a:tab pos="457200" algn="l"/>
                <a:tab pos="914400" algn="l"/>
              </a:tabLs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inhibition of wall.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200000"/>
              </a:lnSpc>
              <a:spcBef>
                <a:spcPts val="0"/>
              </a:spcBef>
              <a:tabLst>
                <a:tab pos="457200" algn="l"/>
                <a:tab pos="914400" algn="l"/>
              </a:tabLs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contraction of internal anal sphincter.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50000"/>
              </a:lnSpc>
              <a:buNone/>
            </a:pP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0D80E4-BABC-45BB-9F94-858F2BC7C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57850" y="993711"/>
            <a:ext cx="65341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641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97994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 functions of sympathetic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707886"/>
            <a:ext cx="6810448" cy="5610915"/>
          </a:xfrm>
        </p:spPr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b="1" u="sng" dirty="0"/>
              <a:t>On pelvis : </a:t>
            </a:r>
          </a:p>
          <a:p>
            <a:pPr marL="0" marR="0" inden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914400" algn="l"/>
              </a:tabLst>
            </a:pP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Urinary bladder: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(retention of urine)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250000"/>
              </a:lnSpc>
              <a:spcBef>
                <a:spcPts val="0"/>
              </a:spcBef>
              <a:tabLst>
                <a:tab pos="457200" algn="l"/>
                <a:tab pos="914400" algn="l"/>
              </a:tabLs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inhibition of wall.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250000"/>
              </a:lnSpc>
              <a:spcBef>
                <a:spcPts val="0"/>
              </a:spcBef>
              <a:tabLst>
                <a:tab pos="457200" algn="l"/>
                <a:tab pos="914400" algn="l"/>
              </a:tabLs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contraction of internal urethral sphincter.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50000"/>
              </a:lnSpc>
              <a:buNone/>
            </a:pP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1F5B5C-90A5-42C6-BCE3-5AAC00C2F5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016"/>
          <a:stretch/>
        </p:blipFill>
        <p:spPr>
          <a:xfrm>
            <a:off x="6307493" y="944821"/>
            <a:ext cx="2733675" cy="34194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9A4E1D-718C-4350-B9C8-FE6E5C6CA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5369" y="3338026"/>
            <a:ext cx="283845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463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8C14E8-90C1-5C48-98B4-B027293B8800}"/>
              </a:ext>
            </a:extLst>
          </p:cNvPr>
          <p:cNvSpPr txBox="1"/>
          <p:nvPr/>
        </p:nvSpPr>
        <p:spPr>
          <a:xfrm>
            <a:off x="178182" y="0"/>
            <a:ext cx="97994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A84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 functions of sympathetic nervous system </a:t>
            </a:r>
            <a:endParaRPr kumimoji="0" lang="en-EG" sz="4000" b="0" i="0" u="none" strike="noStrike" kern="1200" cap="none" spc="0" normalizeH="0" baseline="0" noProof="0" dirty="0">
              <a:ln>
                <a:noFill/>
              </a:ln>
              <a:solidFill>
                <a:srgbClr val="D5A840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FADD45-128F-448F-8AE4-CF506792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81" y="584611"/>
            <a:ext cx="6810448" cy="5610915"/>
          </a:xfrm>
        </p:spPr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en-US" b="1" u="sng" dirty="0"/>
              <a:t>On pelvis : </a:t>
            </a:r>
          </a:p>
          <a:p>
            <a:pPr marL="0" marR="0" inden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457200" algn="l"/>
                <a:tab pos="914400" algn="l"/>
              </a:tabLs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Male genitalia: 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200000"/>
              </a:lnSpc>
              <a:spcBef>
                <a:spcPts val="0"/>
              </a:spcBef>
              <a:tabLst>
                <a:tab pos="457200" algn="l"/>
                <a:tab pos="914400" algn="l"/>
              </a:tabLs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Ejaculation.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50000"/>
              </a:lnSpc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3261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231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598</Words>
  <Application>Microsoft Office PowerPoint</Application>
  <PresentationFormat>Widescreen</PresentationFormat>
  <Paragraphs>143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Source Sans Pro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mohamed talal</cp:lastModifiedBy>
  <cp:revision>19</cp:revision>
  <dcterms:created xsi:type="dcterms:W3CDTF">2021-10-23T20:54:08Z</dcterms:created>
  <dcterms:modified xsi:type="dcterms:W3CDTF">2026-09-22T10:15:40Z</dcterms:modified>
</cp:coreProperties>
</file>