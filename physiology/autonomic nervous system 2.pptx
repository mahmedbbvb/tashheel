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58" r:id="rId1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A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55"/>
    <p:restoredTop sz="94637"/>
  </p:normalViewPr>
  <p:slideViewPr>
    <p:cSldViewPr snapToGrid="0" snapToObjects="1">
      <p:cViewPr varScale="1">
        <p:scale>
          <a:sx n="81" d="100"/>
          <a:sy n="81" d="100"/>
        </p:scale>
        <p:origin x="5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291F-1FEC-2A46-9701-5F116D88D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30DB2-7D38-574D-B87F-4E68872C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5872-70D9-AC47-84E0-9A619E5F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6339-E544-1A4E-A84B-94436911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8DCCF-B245-2444-AB4A-7B9BDAF0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9744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293E-3E2F-6149-8BA2-52A5648D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098D-E88B-5441-AA65-8891F0662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F45B1-AD4C-DA4E-9559-5DFA14EA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14AC-CD29-0348-BF98-38A4D7C3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DAC0-D9F7-014F-B3AB-D0043AAD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257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0A38-0CB2-D04D-8C90-7167A3C5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7C20D-54CC-D341-88CD-3549522EC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4C208-EA1C-FF43-B45A-83DEC866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70DB4-0E0D-6345-90DB-DAF862FE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AD06-34A3-CE4F-A4DA-4D5528E3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2673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3D39-046B-914E-88A0-6552EC47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26CC-791D-F343-93E9-21E8F743E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88BCF-FDA7-444D-8C1A-94409EFE8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551B1-EE8B-764F-A8A8-1D82F7FF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77BB5-08FA-5F43-813C-9D048047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7AE57-6F47-2449-B1E0-5A7212DA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0897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49F6-483E-B948-8889-64B3C553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3C833-D168-B147-9539-ABAE1C982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77F9A-0321-0140-91C9-900280D3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5A0E7-21F1-E84C-BA62-BA581B58A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1A8F9-B595-E843-AE27-8FEECE89F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2D910-A383-F64B-84EB-2A5B3F20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B07CF-8BC8-6047-9A61-71BA4B2F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EF9DF-5B81-BE49-9306-67C42D2C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94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8BF-A10C-FD44-B992-61A8720D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61D50-4DA8-3047-85FF-8EF5FB20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DF751-A9A4-3448-8EA5-72464391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0FEBA-592B-5F4F-BA30-ADC9A381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6758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02A46-3F29-A440-A843-C77B7C12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76E57-C6E4-1942-A970-27118AB9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18A4-C2F3-CF44-814D-E5B3A2C2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403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28F9-AF96-9C4D-83FE-A9756AD7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2BBA-F896-5C4D-AD31-1482718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1BC09-BDA5-0E43-8050-1196BE615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9F12B-E81C-BF49-9989-85DC92FB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503FE-29EC-9D4A-A977-9AE8C583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652A6-56B9-8048-9738-0C9772EC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7722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2683-F2E2-3F47-96EF-86037A41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8FE2F-BC00-6D4C-8DF4-4A2CE3430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A0730-ED86-294B-B52D-576DB0327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423F6-CDB1-0E4D-9D0A-F09BA863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085A9-5B2C-E248-8597-1410DC222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73CF4-55C9-AD4A-ADD2-E90F9B61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5853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CE45-2BB9-8443-8E38-BE0847E0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FEEA0-E059-CC48-826B-B4D2C286A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8BEBC-1051-2143-B581-5EF4F8C4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43065-1F63-FD4C-84F8-619F2C33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1524D-66D9-B340-AE0F-CB8152DE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155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95558-D2B1-A645-B7BD-33E796834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0D934-634B-864B-BC1B-9A7738120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CA47-7183-3640-B709-8681C301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0F76-00B3-3D44-8998-3927A917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1E62F-B2B9-9C42-92BB-3678F084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1867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B51F1-D73E-444C-88AE-D823473C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B86CA-2AFF-1E41-85C9-DF4BD3529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810F1-8D36-B249-BEEF-04CF01556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B1ABE-0409-F743-A828-0C8C93FFAE2C}" type="datetimeFigureOut">
              <a:rPr lang="en-EG" smtClean="0"/>
              <a:t>10/06/2026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F75FC-03DA-CC4C-8EFA-9DCF9DB9D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329C3-49AB-B84B-9633-0C7438084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4074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851513" y="1905304"/>
            <a:ext cx="41488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Field of Medicine </a:t>
            </a:r>
            <a:endParaRPr lang="en-EG" sz="4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851513" y="2571063"/>
            <a:ext cx="2683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Medicine Program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205BF-B7E8-8442-8978-77BF24E0C175}"/>
              </a:ext>
            </a:extLst>
          </p:cNvPr>
          <p:cNvSpPr txBox="1"/>
          <p:nvPr/>
        </p:nvSpPr>
        <p:spPr>
          <a:xfrm>
            <a:off x="851513" y="3136142"/>
            <a:ext cx="4507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Lecture : (Autonomic Nervous System 2 )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9BF02-2656-D049-8520-4F18B0529DEF}"/>
              </a:ext>
            </a:extLst>
          </p:cNvPr>
          <p:cNvSpPr txBox="1"/>
          <p:nvPr/>
        </p:nvSpPr>
        <p:spPr>
          <a:xfrm>
            <a:off x="4714596" y="4913572"/>
            <a:ext cx="1903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Date: / 10 /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01A4A-8EB2-5B41-AA2F-8AA385D963EC}"/>
              </a:ext>
            </a:extLst>
          </p:cNvPr>
          <p:cNvSpPr txBox="1"/>
          <p:nvPr/>
        </p:nvSpPr>
        <p:spPr>
          <a:xfrm>
            <a:off x="854137" y="4913572"/>
            <a:ext cx="2409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 : (Mohamed Talal)</a:t>
            </a:r>
          </a:p>
        </p:txBody>
      </p:sp>
    </p:spTree>
    <p:extLst>
      <p:ext uri="{BB962C8B-B14F-4D97-AF65-F5344CB8AC3E}">
        <p14:creationId xmlns:p14="http://schemas.microsoft.com/office/powerpoint/2010/main" val="16890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9134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Divisions of 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32346"/>
            <a:ext cx="5934269" cy="2943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Parasympathetic nervous system :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FC3D17-54A9-48CE-A834-820E6BC0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292" y="1604866"/>
            <a:ext cx="5669280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8029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6810448" cy="2093273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dirty="0"/>
              <a:t>Origin : </a:t>
            </a:r>
          </a:p>
          <a:p>
            <a:pPr lvl="1"/>
            <a:r>
              <a:rPr lang="en-US" dirty="0"/>
              <a:t>cranio-sacral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BC2F2B-39F3-4BFE-9D53-5BFE35AEFB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48111" t="748" r="1889" b="-748"/>
          <a:stretch/>
        </p:blipFill>
        <p:spPr>
          <a:xfrm>
            <a:off x="7586554" y="707886"/>
            <a:ext cx="4261292" cy="585216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FA04E6-B0F7-4990-9311-5E98161C4BF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44154" y="2539764"/>
          <a:ext cx="6988629" cy="2519680"/>
        </p:xfrm>
        <a:graphic>
          <a:graphicData uri="http://schemas.openxmlformats.org/drawingml/2006/table">
            <a:tbl>
              <a:tblPr firstRow="1" firstCol="1" bandRow="1"/>
              <a:tblGrid>
                <a:gridCol w="3428632">
                  <a:extLst>
                    <a:ext uri="{9D8B030D-6E8A-4147-A177-3AD203B41FA5}">
                      <a16:colId xmlns:a16="http://schemas.microsoft.com/office/drawing/2014/main" val="1515761151"/>
                    </a:ext>
                  </a:extLst>
                </a:gridCol>
                <a:gridCol w="3559997">
                  <a:extLst>
                    <a:ext uri="{9D8B030D-6E8A-4147-A177-3AD203B41FA5}">
                      <a16:colId xmlns:a16="http://schemas.microsoft.com/office/drawing/2014/main" val="2919681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Cranial outflow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Sacral outflow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01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Oculomotor nerve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(head and neck)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Facial nerve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(head and neck)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Glossopharyngeal nerve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(head and neck)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457200" algn="l"/>
                          <a:tab pos="914400" algn="l"/>
                        </a:tabLst>
                      </a:pPr>
                      <a:r>
                        <a:rPr lang="en-US" sz="18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Vagus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nerve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 thorax – abdomen )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274320" algn="l"/>
                          <a:tab pos="914400" algn="l"/>
                        </a:tabLs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pelvic branches of S2-S3 and S4 (pelvis 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51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81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206799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Parasympathetic nervous system </a:t>
            </a:r>
            <a:endParaRPr lang="en-EG" sz="4000" dirty="0">
              <a:solidFill>
                <a:srgbClr val="D5A84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1171288"/>
            <a:ext cx="362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Effect on head and neck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259145" y="1755636"/>
            <a:ext cx="997190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Oculomotor nerve (3rd cranial nerve):</a:t>
            </a:r>
          </a:p>
          <a:p>
            <a:pPr>
              <a:lnSpc>
                <a:spcPct val="250000"/>
              </a:lnSpc>
            </a:pPr>
            <a:r>
              <a:rPr lang="en-US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origin :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Edinger – Westphal nucleus of midbrain </a:t>
            </a:r>
          </a:p>
          <a:p>
            <a:pPr>
              <a:lnSpc>
                <a:spcPct val="250000"/>
              </a:lnSpc>
            </a:pPr>
            <a:r>
              <a:rPr lang="en-US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relay :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ciliary ganglion </a:t>
            </a:r>
          </a:p>
          <a:p>
            <a:pPr>
              <a:lnSpc>
                <a:spcPct val="250000"/>
              </a:lnSpc>
            </a:pPr>
            <a:r>
              <a:rPr lang="en-US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Action : 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eye :  pupil constriction ( contraction of constrictor pupillae muscle ) </a:t>
            </a:r>
          </a:p>
          <a:p>
            <a:endParaRPr lang="en-EG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2BD22-60DE-4705-87D3-9AB840AF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61" y="914685"/>
            <a:ext cx="4674414" cy="548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759805-5C68-4DFF-BA8A-4101E149C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0" y="1632953"/>
            <a:ext cx="24003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23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102972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723915"/>
            <a:ext cx="362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Effect on head and neck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100725" y="1196795"/>
            <a:ext cx="997190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Facial nerve: (7th cranial nerve) </a:t>
            </a:r>
          </a:p>
          <a:p>
            <a:pPr lvl="0"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origin :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superior salivary nucleus in pons 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uLnTx/>
              <a:uFillTx/>
              <a:latin typeface="Calibri" panose="020F0502020204030204"/>
            </a:endParaRPr>
          </a:p>
          <a:p>
            <a:pPr lvl="0"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relay :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sphenopalatine ganglion 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:</a:t>
            </a:r>
            <a:r>
              <a:rPr kumimoji="0" lang="en-US" sz="1800" b="1" i="0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On sublingual and submandibular glands : 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Increases their secretions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2BD22-60DE-4705-87D3-9AB840AF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586" y="914685"/>
            <a:ext cx="4674414" cy="5486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6516FF-D9D4-4059-8BBF-AEB08717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675" y="3984843"/>
            <a:ext cx="3996186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57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102972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723915"/>
            <a:ext cx="3624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Effect on head and neck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100725" y="1196795"/>
            <a:ext cx="997190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Glossopharyngeal nerve : ( 9th cranial nerve )</a:t>
            </a:r>
          </a:p>
          <a:p>
            <a:pPr lvl="0"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origin :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 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inferior salivary nucleus in medulla 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250000"/>
              </a:lnSpc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relay :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 </a:t>
            </a: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otic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ganglia </a:t>
            </a:r>
          </a:p>
          <a:p>
            <a:pPr lvl="0">
              <a:lnSpc>
                <a:spcPct val="250000"/>
              </a:lnSpc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On parotid gland :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Increases its secretions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2BD22-60DE-4705-87D3-9AB840AF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586" y="914685"/>
            <a:ext cx="4674414" cy="548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EBC32D-3305-40A7-94A1-4509671308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38" t="7273" r="50944"/>
          <a:stretch/>
        </p:blipFill>
        <p:spPr>
          <a:xfrm>
            <a:off x="3398011" y="2842245"/>
            <a:ext cx="3377329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4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206799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1171288"/>
            <a:ext cx="4498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Effect on thorax and abdomen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259146" y="1755636"/>
            <a:ext cx="6468226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50000"/>
              </a:lnSpc>
            </a:pPr>
            <a:r>
              <a:rPr lang="en-US" b="1" u="sng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vagus</a:t>
            </a: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 nerve : ( 10th cranial nerve ) </a:t>
            </a:r>
          </a:p>
          <a:p>
            <a:pPr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origin :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vagal nucleus in medulla </a:t>
            </a:r>
          </a:p>
          <a:p>
            <a:pPr lvl="0">
              <a:lnSpc>
                <a:spcPct val="250000"/>
              </a:lnSpc>
            </a:pP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 relay :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terminal ganglia </a:t>
            </a:r>
            <a:endParaRPr kumimoji="0" lang="en-US" sz="1800" i="0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: </a:t>
            </a: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</a:rPr>
              <a:t> on </a:t>
            </a:r>
            <a:r>
              <a:rPr lang="en-US" b="1" u="sng" dirty="0">
                <a:solidFill>
                  <a:prstClr val="black">
                    <a:lumMod val="65000"/>
                    <a:lumOff val="35000"/>
                  </a:prstClr>
                </a:solidFill>
              </a:rPr>
              <a:t>Thorax</a:t>
            </a:r>
          </a:p>
          <a:p>
            <a:pPr lvl="1" algn="ctr"/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Heart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-</a:t>
            </a: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ve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inotropic effect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-</a:t>
            </a: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ve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chronotropic effect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decrease coronary blood flow and O2 consumption </a:t>
            </a:r>
          </a:p>
          <a:p>
            <a:pPr lvl="1" algn="ctr"/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Lung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bronchial constriction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vasodilatation of pulmonary blood vessels </a:t>
            </a:r>
          </a:p>
          <a:p>
            <a:pPr marL="742950" marR="0" lvl="1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2BD22-60DE-4705-87D3-9AB840AFD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61" y="914685"/>
            <a:ext cx="467441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206799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1171288"/>
            <a:ext cx="4498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Effect on thorax and abdomen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72534" y="1453182"/>
            <a:ext cx="6468226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vagus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nerve : ( 10th cranial nerve ) </a:t>
            </a:r>
          </a:p>
          <a:p>
            <a:pPr marL="0" marR="0" lvl="0" indent="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:  on abdomen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GIT : 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motor to the wall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inhibitory to sphincters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gall bladder :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( evacuation 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motor to the wall 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inhibitory to sphincter of </a:t>
            </a:r>
            <a:r>
              <a:rPr lang="en-US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oddi</a:t>
            </a:r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72C3B-1F3B-4ABF-9607-7A3BF5B14B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35" r="11894" b="8980"/>
          <a:stretch/>
        </p:blipFill>
        <p:spPr>
          <a:xfrm>
            <a:off x="8275109" y="94164"/>
            <a:ext cx="3739609" cy="3077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140FE-B9B1-48A7-B63F-0E8BC0C8E4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454"/>
          <a:stretch/>
        </p:blipFill>
        <p:spPr>
          <a:xfrm>
            <a:off x="4285090" y="3200400"/>
            <a:ext cx="57317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06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206799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1171288"/>
            <a:ext cx="2472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Effect on pelvis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72534" y="1453182"/>
            <a:ext cx="6468226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25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Origin: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S2, 3, 4 </a:t>
            </a:r>
          </a:p>
          <a:p>
            <a:pPr lvl="1">
              <a:lnSpc>
                <a:spcPct val="25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Course: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pelvic nerve</a:t>
            </a:r>
          </a:p>
          <a:p>
            <a:pPr lvl="1">
              <a:lnSpc>
                <a:spcPct val="25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Relay: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terminal ganglia </a:t>
            </a:r>
          </a:p>
          <a:p>
            <a:pPr lvl="1">
              <a:lnSpc>
                <a:spcPct val="25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On the rectum :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(defecation ) </a:t>
            </a:r>
          </a:p>
          <a:p>
            <a:pPr marL="1200150" lvl="2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contraction of wall </a:t>
            </a:r>
          </a:p>
          <a:p>
            <a:pPr marL="1200150" lvl="2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inhibition of internal anal sphincter </a:t>
            </a:r>
          </a:p>
          <a:p>
            <a:pPr marL="742950" marR="0" lvl="1" indent="-28575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E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2CBCD-0F8B-44C4-8CF4-7F4E0AEA6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954" y="914685"/>
            <a:ext cx="6535478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4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0" y="206799"/>
            <a:ext cx="7842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Parasympathetic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0" y="1171288"/>
            <a:ext cx="2472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Effect on pelvis 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4AC53-1AA3-754A-B860-8BCF008F1986}"/>
              </a:ext>
            </a:extLst>
          </p:cNvPr>
          <p:cNvSpPr txBox="1"/>
          <p:nvPr/>
        </p:nvSpPr>
        <p:spPr>
          <a:xfrm>
            <a:off x="324461" y="1632953"/>
            <a:ext cx="6468226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on the urinary bladder :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 ( micturition )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contraction of wall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inhibition of internal urethral sphincter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On male genitalia : 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</a:rPr>
              <a:t>erection </a:t>
            </a:r>
          </a:p>
          <a:p>
            <a:pPr lvl="1">
              <a:lnSpc>
                <a:spcPct val="200000"/>
              </a:lnSpc>
            </a:pPr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A1C518-D8AF-46A3-96FB-16808592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739" y="1427438"/>
            <a:ext cx="3212954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8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23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365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Source Sans Pro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mohamed talal</cp:lastModifiedBy>
  <cp:revision>14</cp:revision>
  <dcterms:created xsi:type="dcterms:W3CDTF">2021-10-23T20:54:08Z</dcterms:created>
  <dcterms:modified xsi:type="dcterms:W3CDTF">2026-10-06T10:35:31Z</dcterms:modified>
</cp:coreProperties>
</file>